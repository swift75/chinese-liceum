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66" r:id="rId2"/>
    <p:sldId id="256" r:id="rId3"/>
    <p:sldId id="270" r:id="rId4"/>
    <p:sldId id="259" r:id="rId5"/>
    <p:sldId id="260" r:id="rId6"/>
    <p:sldId id="261" r:id="rId7"/>
    <p:sldId id="275" r:id="rId8"/>
    <p:sldId id="271" r:id="rId9"/>
    <p:sldId id="272" r:id="rId10"/>
    <p:sldId id="273" r:id="rId11"/>
    <p:sldId id="274" r:id="rId12"/>
    <p:sldId id="26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2ECDA-2449-4F84-A47D-F83CFB5C08BF}" v="97" dt="2026-05-14T09:17:06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EF990-DD85-4136-A6BC-8E5B529C2982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D6DD4-9AFF-4886-BF05-8C8E3E55BD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708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D6DD4-9AFF-4886-BF05-8C8E3E55BD1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415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4A634-00A8-5159-DD78-760A0988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37776A-ED7C-9573-DCE7-359AEBFE3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0C58CBF-C88A-919B-7129-B0118EB6E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68734-18A1-0095-246D-65AD62AA72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CD6DD4-9AFF-4886-BF05-8C8E3E55BD1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03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DF7A0-907A-424C-9CF3-0F5583693E85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86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16B4-AC17-4BB3-B878-C0B794C60107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86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44FE-1059-47D2-8D17-D5145EC4DC73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92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14E4-2C1A-48FF-946D-1EE947BD43BE}" type="datetime1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3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62326-60BE-4ED8-9AB3-348015B01A42}" type="datetime1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71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8F718-54ED-4488-B69F-8EA50212C659}" type="datetime1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76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A71A-73A3-4674-802C-BFDA1A886B0B}" type="datetime1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75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61ADC-A5A3-4D7A-A146-31201351E537}" type="datetime1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29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B61FE-09A0-4C8C-8367-6C1991BA34B0}" type="datetime1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26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96EC1-3502-4F57-B3EC-EBE46B7614A6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59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7B2D4-3998-4FE9-A534-4F5E0B5F3DF2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16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F41DF-B08C-494C-8C0D-92C5746F97A3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3B30A-8385-465D-9E5E-1D615AB9C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22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30465" y="2382610"/>
            <a:ext cx="11009088" cy="974818"/>
          </a:xfrm>
        </p:spPr>
        <p:txBody>
          <a:bodyPr>
            <a:noAutofit/>
          </a:bodyPr>
          <a:lstStyle/>
          <a:p>
            <a:r>
              <a:rPr lang="ru-RU" sz="8000">
                <a:latin typeface="Arial Black"/>
              </a:rPr>
              <a:t>Chinese</a:t>
            </a:r>
            <a:r>
              <a:rPr lang="ru-RU" sz="8000" dirty="0">
                <a:latin typeface="Arial Black"/>
              </a:rPr>
              <a:t> Learning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9447" y="3176856"/>
            <a:ext cx="11488058" cy="8768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4000" dirty="0">
                <a:latin typeface="Century Gothic"/>
                <a:cs typeface="Times New Roman" panose="02020603050405020304" pitchFamily="18" charset="0"/>
              </a:rPr>
              <a:t>Китайский </a:t>
            </a:r>
            <a:r>
              <a:rPr lang="ru-RU" sz="4800" dirty="0">
                <a:latin typeface="Century Gothic"/>
                <a:cs typeface="Times New Roman" panose="02020603050405020304" pitchFamily="18" charset="0"/>
              </a:rPr>
              <a:t>язык</a:t>
            </a:r>
            <a:r>
              <a:rPr lang="ru-RU" sz="4000" dirty="0">
                <a:latin typeface="Century Gothic"/>
                <a:cs typeface="Times New Roman" panose="02020603050405020304" pitchFamily="18" charset="0"/>
              </a:rPr>
              <a:t> быстро и удобно</a:t>
            </a:r>
          </a:p>
        </p:txBody>
      </p:sp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3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7DE2A8D-A3FD-C8E1-F755-934090F4A5C9}"/>
              </a:ext>
            </a:extLst>
          </p:cNvPr>
          <p:cNvSpPr txBox="1">
            <a:spLocks/>
          </p:cNvSpPr>
          <p:nvPr/>
        </p:nvSpPr>
        <p:spPr>
          <a:xfrm>
            <a:off x="3172964" y="4862213"/>
            <a:ext cx="11488058" cy="8768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dirty="0">
                <a:latin typeface="Century Gothic"/>
                <a:cs typeface="Times New Roman" panose="02020603050405020304" pitchFamily="18" charset="0"/>
              </a:rPr>
              <a:t>Выполнили: Савельев Максим</a:t>
            </a:r>
          </a:p>
          <a:p>
            <a:r>
              <a:rPr lang="ru-RU" sz="4000" dirty="0">
                <a:latin typeface="Century Gothic"/>
                <a:cs typeface="Times New Roman" panose="02020603050405020304" pitchFamily="18" charset="0"/>
              </a:rPr>
              <a:t>                       </a:t>
            </a:r>
            <a:r>
              <a:rPr lang="ru-RU" sz="4000">
                <a:latin typeface="Century Gothic"/>
                <a:cs typeface="Times New Roman" panose="02020603050405020304" pitchFamily="18" charset="0"/>
              </a:rPr>
              <a:t>Ташкараев</a:t>
            </a:r>
            <a:r>
              <a:rPr lang="ru-RU" sz="4000" dirty="0">
                <a:latin typeface="Century Gothic"/>
                <a:cs typeface="Times New Roman" panose="02020603050405020304" pitchFamily="18" charset="0"/>
              </a:rPr>
              <a:t> Руслан</a:t>
            </a:r>
          </a:p>
        </p:txBody>
      </p:sp>
    </p:spTree>
    <p:extLst>
      <p:ext uri="{BB962C8B-B14F-4D97-AF65-F5344CB8AC3E}">
        <p14:creationId xmlns:p14="http://schemas.microsoft.com/office/powerpoint/2010/main" val="128104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903" y="-11548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11618" y="555420"/>
            <a:ext cx="11368763" cy="57440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6600" dirty="0">
                <a:solidFill>
                  <a:schemeClr val="accent5"/>
                </a:solidFill>
                <a:latin typeface="Arial Black"/>
                <a:cs typeface="Times New Roman"/>
              </a:rPr>
              <a:t>Цель  и задачи проекта </a:t>
            </a:r>
          </a:p>
          <a:p>
            <a:r>
              <a:rPr lang="ru-RU" dirty="0">
                <a:latin typeface="Century Gothic"/>
                <a:cs typeface="Times New Roman"/>
              </a:rPr>
              <a:t>разработать веб-приложение для самостоятельного изучения </a:t>
            </a:r>
            <a:r>
              <a:rPr lang="ru-RU">
                <a:latin typeface="Century Gothic"/>
                <a:cs typeface="Times New Roman"/>
              </a:rPr>
              <a:t>китайского языка, которое обеспечивает</a:t>
            </a:r>
            <a:endParaRPr lang="en-US">
              <a:latin typeface="Century Gothic"/>
              <a:cs typeface="Times New 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latin typeface="Century Gothic"/>
                <a:cs typeface="Times New Roman"/>
              </a:rPr>
              <a:t>системное пополнение словарного запаса через интерактивные карточки и тематические уроки;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latin typeface="Century Gothic"/>
                <a:cs typeface="Times New Roman"/>
              </a:rPr>
              <a:t>отработку навыков перевода слов и предложений с автоматической проверкой;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latin typeface="Century Gothic"/>
                <a:cs typeface="Times New Roman"/>
              </a:rPr>
              <a:t>знакомство с историческими материалами Китая для повышения мотивации и культурного контекста;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latin typeface="Century Gothic"/>
                <a:cs typeface="Times New Roman"/>
              </a:rPr>
              <a:t>персонализированный прогресс пользователя (регистрация, авторизация, сохранение результатов);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429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532DA-102E-6972-EC6B-76CFB52D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>
            <a:extLst>
              <a:ext uri="{FF2B5EF4-FFF2-40B4-BE49-F238E27FC236}">
                <a16:creationId xmlns:a16="http://schemas.microsoft.com/office/drawing/2014/main" id="{1DE61AEA-D12B-6134-142D-289458100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903" y="-11548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202DF1-76DE-1014-2AD5-757834ABC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618" y="696864"/>
            <a:ext cx="11368763" cy="522880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5400" dirty="0">
                <a:solidFill>
                  <a:schemeClr val="accent5"/>
                </a:solidFill>
                <a:latin typeface="Arial Black"/>
                <a:cs typeface="Times New Roman"/>
              </a:rPr>
              <a:t>Регистрация и авторизация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801C1E-3968-BB2C-FE73-C01BA794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2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84461B5-FD05-011C-B870-7E1D50158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570" y="2819946"/>
            <a:ext cx="4708858" cy="3571890"/>
          </a:xfrm>
          <a:prstGeom prst="rect">
            <a:avLst/>
          </a:prstGeom>
        </p:spPr>
      </p:pic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6ED407A4-3145-BC9A-F61D-9867D5F300C2}"/>
              </a:ext>
            </a:extLst>
          </p:cNvPr>
          <p:cNvSpPr txBox="1">
            <a:spLocks/>
          </p:cNvSpPr>
          <p:nvPr/>
        </p:nvSpPr>
        <p:spPr>
          <a:xfrm>
            <a:off x="351970" y="1554886"/>
            <a:ext cx="11488058" cy="8768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>
                <a:latin typeface="Century Gothic"/>
                <a:cs typeface="Times New Roman" panose="02020603050405020304" pitchFamily="18" charset="0"/>
              </a:rPr>
              <a:t>При входе на сайт есть окно с  выбором </a:t>
            </a:r>
          </a:p>
          <a:p>
            <a:r>
              <a:rPr lang="ru-RU" sz="3600" dirty="0">
                <a:latin typeface="Century Gothic"/>
                <a:cs typeface="Times New Roman" panose="02020603050405020304" pitchFamily="18" charset="0"/>
              </a:rPr>
              <a:t>регистрации или авторизации</a:t>
            </a:r>
            <a:endParaRPr lang="en-US" sz="3600">
              <a:latin typeface="Century Gothic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10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13678" y="-634795"/>
            <a:ext cx="11878322" cy="2387600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accent5"/>
                </a:solidFill>
                <a:latin typeface="Arial Black"/>
                <a:cs typeface="Times New Roman"/>
              </a:rPr>
              <a:t>Разделы  веб-приложения</a:t>
            </a:r>
            <a:endParaRPr lang="ru-RU" sz="5400">
              <a:solidFill>
                <a:schemeClr val="accent5"/>
              </a:solidFill>
              <a:latin typeface="Arial Black"/>
              <a:cs typeface="Times New Roman"/>
            </a:endParaRPr>
          </a:p>
        </p:txBody>
      </p:sp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71D688-DB52-9522-B1E6-C0CC3E7FC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4870335"/>
            <a:ext cx="11677650" cy="647700"/>
          </a:xfrm>
          <a:prstGeom prst="rect">
            <a:avLst/>
          </a:prstGeom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7CCC1A66-E9E0-74C9-6F4C-0177B7511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767" y="1752805"/>
            <a:ext cx="11488058" cy="8768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4000" dirty="0">
                <a:latin typeface="Century Gothic"/>
                <a:cs typeface="Times New Roman" panose="02020603050405020304" pitchFamily="18" charset="0"/>
              </a:rPr>
              <a:t>сайт включает в себя: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F95D0-0C7E-5F2C-C5D1-357A866901B8}"/>
              </a:ext>
            </a:extLst>
          </p:cNvPr>
          <p:cNvSpPr txBox="1"/>
          <p:nvPr/>
        </p:nvSpPr>
        <p:spPr>
          <a:xfrm>
            <a:off x="759199" y="2521059"/>
            <a:ext cx="6131858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dirty="0">
                <a:latin typeface="Century Gothic"/>
                <a:cs typeface="Times New Roman" panose="02020603050405020304" pitchFamily="18" charset="0"/>
              </a:rPr>
              <a:t>Основной раздел «Уроки»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dirty="0">
                <a:latin typeface="Century Gothic"/>
                <a:cs typeface="Times New Roman" panose="02020603050405020304" pitchFamily="18" charset="0"/>
              </a:rPr>
              <a:t>«Слова», «Карточки», «История», «Практика»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dirty="0">
                <a:latin typeface="Century Gothic"/>
                <a:cs typeface="Times New Roman" panose="02020603050405020304" pitchFamily="18" charset="0"/>
              </a:rPr>
              <a:t>Профиль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312711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618565"/>
            <a:ext cx="9144000" cy="1538437"/>
          </a:xfrm>
        </p:spPr>
        <p:txBody>
          <a:bodyPr>
            <a:normAutofit/>
          </a:bodyPr>
          <a:lstStyle/>
          <a:p>
            <a:r>
              <a:rPr lang="ru-RU" sz="6600" dirty="0">
                <a:solidFill>
                  <a:schemeClr val="accent5"/>
                </a:solidFill>
                <a:latin typeface="Arial Black"/>
                <a:cs typeface="Times New Roman" panose="02020603050405020304" pitchFamily="18" charset="0"/>
              </a:rPr>
              <a:t>Раздел «Уроки»</a:t>
            </a:r>
            <a:br>
              <a:rPr lang="en-US" sz="4400" dirty="0">
                <a:latin typeface="Arial Black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6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A022DD-065B-9042-D59C-7C2BA709B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694" y="1718591"/>
            <a:ext cx="11488058" cy="10569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3600" dirty="0">
                <a:latin typeface="Century Gothic"/>
                <a:cs typeface="Times New Roman" panose="02020603050405020304" pitchFamily="18" charset="0"/>
              </a:rPr>
              <a:t>состоит  из основ грамматики и Китайского языка в целом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2F7362-2076-C1C8-20DF-FA059B1BB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50" y="2913550"/>
            <a:ext cx="9862680" cy="124176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01ECC4D-4633-5359-E236-F1ED99AF7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34279"/>
            <a:ext cx="10506075" cy="10287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E9AFD1-30CA-9300-D2F9-C55E183E2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152" y="5383638"/>
            <a:ext cx="1051560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0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66919" y="277706"/>
            <a:ext cx="10333608" cy="1983004"/>
          </a:xfrm>
        </p:spPr>
        <p:txBody>
          <a:bodyPr>
            <a:noAutofit/>
          </a:bodyPr>
          <a:lstStyle/>
          <a:p>
            <a:r>
              <a:rPr lang="ru-RU" sz="6600" dirty="0">
                <a:solidFill>
                  <a:schemeClr val="accent5"/>
                </a:solidFill>
                <a:latin typeface="Arial Black"/>
                <a:cs typeface="Times New Roman" panose="02020603050405020304" pitchFamily="18" charset="0"/>
              </a:rPr>
              <a:t>Раздел «Слова»</a:t>
            </a:r>
            <a:br>
              <a:rPr lang="en-US" sz="3200" dirty="0">
                <a:latin typeface="Arial Black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7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83EEAB7-D705-B7C6-2BDC-82FC630FC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953" y="1598065"/>
            <a:ext cx="11488058" cy="38305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3200" dirty="0">
                <a:latin typeface="Century Gothic"/>
                <a:cs typeface="Times New Roman"/>
              </a:rPr>
              <a:t>состоит  из слов, которые обязательны для </a:t>
            </a:r>
            <a:r>
              <a:rPr lang="ru-RU" sz="3200">
                <a:latin typeface="Century Gothic"/>
                <a:cs typeface="Times New Roman"/>
              </a:rPr>
              <a:t>определённого уровня. Можно скачать файл со </a:t>
            </a:r>
            <a:r>
              <a:rPr lang="ru-RU" sz="3200" dirty="0">
                <a:latin typeface="Century Gothic"/>
                <a:cs typeface="Times New Roman"/>
              </a:rPr>
              <a:t>всеми словами</a:t>
            </a:r>
          </a:p>
          <a:p>
            <a:endParaRPr lang="ru-RU" sz="3200" dirty="0">
              <a:latin typeface="Century Gothic"/>
              <a:cs typeface="Times New Roman" panose="02020603050405020304" pitchFamily="18" charset="0"/>
            </a:endParaRPr>
          </a:p>
          <a:p>
            <a:pPr algn="l"/>
            <a:r>
              <a:rPr lang="ru-RU" sz="3200" dirty="0">
                <a:latin typeface="Century Gothic"/>
                <a:cs typeface="Times New Roman"/>
              </a:rPr>
              <a:t>Каждое слово включает: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>
                <a:latin typeface="Century Gothic"/>
                <a:cs typeface="Times New Roman"/>
              </a:rPr>
              <a:t>Написание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>
                <a:latin typeface="Century Gothic"/>
                <a:cs typeface="Times New Roman"/>
              </a:rPr>
              <a:t>Транскрипцию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3200" dirty="0">
                <a:latin typeface="Century Gothic"/>
                <a:cs typeface="Times New Roman"/>
              </a:rPr>
              <a:t>Перевод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201D1F-766B-6CB9-3A57-A56804DF4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784" y="2994563"/>
            <a:ext cx="6857525" cy="3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0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B2F9-0296-B6D3-280C-398CA3EC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>
            <a:extLst>
              <a:ext uri="{FF2B5EF4-FFF2-40B4-BE49-F238E27FC236}">
                <a16:creationId xmlns:a16="http://schemas.microsoft.com/office/drawing/2014/main" id="{29CCF40D-5E7F-BFB2-11E7-2864F30E4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B5860-A9F5-11C5-D3B8-521BF10C4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919" y="277706"/>
            <a:ext cx="10333608" cy="1983004"/>
          </a:xfrm>
        </p:spPr>
        <p:txBody>
          <a:bodyPr>
            <a:noAutofit/>
          </a:bodyPr>
          <a:lstStyle/>
          <a:p>
            <a:r>
              <a:rPr lang="ru-RU" sz="6600" dirty="0">
                <a:solidFill>
                  <a:schemeClr val="accent5"/>
                </a:solidFill>
                <a:latin typeface="Arial Black"/>
                <a:cs typeface="Times New Roman" panose="02020603050405020304" pitchFamily="18" charset="0"/>
              </a:rPr>
              <a:t>Раздел «Карточки»</a:t>
            </a:r>
            <a:br>
              <a:rPr lang="en-US" sz="3200" dirty="0">
                <a:latin typeface="Arial Black"/>
                <a:cs typeface="Times New Roman" panose="02020603050405020304" pitchFamily="18" charset="0"/>
              </a:rPr>
            </a:br>
            <a:endParaRPr lang="ru-RU" sz="3200">
              <a:latin typeface="Arial Black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>
            <a:extLst>
              <a:ext uri="{FF2B5EF4-FFF2-40B4-BE49-F238E27FC236}">
                <a16:creationId xmlns:a16="http://schemas.microsoft.com/office/drawing/2014/main" id="{0162F9C0-0BF7-5626-7BC0-DC005F0E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7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0C3F28C-3D05-2283-9FA1-37F9F4943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153" y="1682732"/>
            <a:ext cx="11488058" cy="38305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3600" dirty="0">
                <a:latin typeface="Century Gothic"/>
                <a:cs typeface="Times New Roman" panose="02020603050405020304" pitchFamily="18" charset="0"/>
              </a:rPr>
              <a:t>помогает изучить как отдельные слова, так и целые фразы наиболее удобным способом</a:t>
            </a:r>
          </a:p>
          <a:p>
            <a:endParaRPr lang="ru-RU" sz="3600" dirty="0">
              <a:latin typeface="Century Gothic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2693A8-9455-8E1C-7173-817C63101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475" y="2721373"/>
            <a:ext cx="6492495" cy="396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8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6EDF5-7F56-CE11-AB4D-3EA3D17B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>
            <a:extLst>
              <a:ext uri="{FF2B5EF4-FFF2-40B4-BE49-F238E27FC236}">
                <a16:creationId xmlns:a16="http://schemas.microsoft.com/office/drawing/2014/main" id="{938E4490-A0E5-B532-57F1-4C9D3F4B2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7FB2C-0303-1D8F-7609-514576A81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8565"/>
            <a:ext cx="9144000" cy="1538437"/>
          </a:xfrm>
        </p:spPr>
        <p:txBody>
          <a:bodyPr>
            <a:normAutofit/>
          </a:bodyPr>
          <a:lstStyle/>
          <a:p>
            <a:r>
              <a:rPr lang="ru-RU" sz="6600" dirty="0">
                <a:solidFill>
                  <a:schemeClr val="accent5"/>
                </a:solidFill>
                <a:latin typeface="Arial Black"/>
                <a:cs typeface="Times New Roman" panose="02020603050405020304" pitchFamily="18" charset="0"/>
              </a:rPr>
              <a:t>Раздел «История»</a:t>
            </a:r>
            <a:br>
              <a:rPr lang="en-US" sz="4400" dirty="0">
                <a:latin typeface="Arial Black"/>
                <a:cs typeface="Times New Roman" panose="02020603050405020304" pitchFamily="18" charset="0"/>
              </a:rPr>
            </a:br>
            <a:endParaRPr lang="ru-RU" sz="3200">
              <a:latin typeface="Arial Black"/>
              <a:cs typeface="Times New Roman" panose="02020603050405020304" pitchFamily="18" charset="0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7DC221-2770-5415-E01A-38070C18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6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184D0D-47D4-12A0-3820-DB78BE0E4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694" y="1612226"/>
            <a:ext cx="11488058" cy="10569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3600" dirty="0">
                <a:latin typeface="Century Gothic"/>
                <a:cs typeface="Times New Roman" panose="02020603050405020304" pitchFamily="18" charset="0"/>
              </a:rPr>
              <a:t>состоит из главных моментов истории Китая с возможностью перейти на сайты для изучения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2B5F2E-79D8-00E3-746F-B6693DD38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94" y="2669202"/>
            <a:ext cx="6611741" cy="36370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F726E7-D3C0-070F-6D03-DDE188D0A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982" y="3379679"/>
            <a:ext cx="4809327" cy="180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1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4BC51-ED7D-91BE-5716-36C0D6F5A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>
            <a:extLst>
              <a:ext uri="{FF2B5EF4-FFF2-40B4-BE49-F238E27FC236}">
                <a16:creationId xmlns:a16="http://schemas.microsoft.com/office/drawing/2014/main" id="{D35EC453-D08A-73FE-D8BA-78AD9426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BA801-6A08-28E8-D2CD-536265520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919" y="277706"/>
            <a:ext cx="10333608" cy="1983004"/>
          </a:xfrm>
        </p:spPr>
        <p:txBody>
          <a:bodyPr>
            <a:noAutofit/>
          </a:bodyPr>
          <a:lstStyle/>
          <a:p>
            <a:r>
              <a:rPr lang="ru-RU" sz="6600" dirty="0">
                <a:solidFill>
                  <a:schemeClr val="accent5"/>
                </a:solidFill>
                <a:latin typeface="Arial Black"/>
                <a:cs typeface="Times New Roman" panose="02020603050405020304" pitchFamily="18" charset="0"/>
              </a:rPr>
              <a:t>Раздел «Практика»</a:t>
            </a:r>
            <a:br>
              <a:rPr lang="en-US" sz="3200" dirty="0">
                <a:latin typeface="Arial Black"/>
                <a:cs typeface="Times New Roman" panose="02020603050405020304" pitchFamily="18" charset="0"/>
              </a:rPr>
            </a:br>
            <a:endParaRPr lang="ru-RU" sz="3200">
              <a:latin typeface="Arial Black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>
            <a:extLst>
              <a:ext uri="{FF2B5EF4-FFF2-40B4-BE49-F238E27FC236}">
                <a16:creationId xmlns:a16="http://schemas.microsoft.com/office/drawing/2014/main" id="{6DE87C50-41BB-7DA0-F5A8-8B70FFEA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7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513A775-5096-BDBA-E8B9-2CE04CA24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153" y="1682732"/>
            <a:ext cx="11488058" cy="38305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3600" dirty="0">
                <a:latin typeface="Century Gothic"/>
                <a:cs typeface="Times New Roman" panose="02020603050405020304" pitchFamily="18" charset="0"/>
              </a:rPr>
              <a:t>включает практику слов и предложений</a:t>
            </a:r>
          </a:p>
          <a:p>
            <a:endParaRPr lang="ru-RU" sz="3600" dirty="0">
              <a:latin typeface="Century Gothic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358CAB-196C-8656-EBF6-44B0AEFA3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11" y="2260710"/>
            <a:ext cx="5646277" cy="44347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BDBCBBA-EA1C-A479-B20D-F70364FB3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007" y="2232989"/>
            <a:ext cx="4686123" cy="449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20504-650E-ABB0-BD43-B34E8A12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>
            <a:extLst>
              <a:ext uri="{FF2B5EF4-FFF2-40B4-BE49-F238E27FC236}">
                <a16:creationId xmlns:a16="http://schemas.microsoft.com/office/drawing/2014/main" id="{6A7BC8D3-AE18-5F70-B609-2B2C54C5F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AEF23-8870-4D84-0DE7-F57245E47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919" y="277706"/>
            <a:ext cx="10333608" cy="1983004"/>
          </a:xfrm>
        </p:spPr>
        <p:txBody>
          <a:bodyPr>
            <a:noAutofit/>
          </a:bodyPr>
          <a:lstStyle/>
          <a:p>
            <a:r>
              <a:rPr lang="ru-RU" sz="5400" dirty="0">
                <a:solidFill>
                  <a:schemeClr val="accent5"/>
                </a:solidFill>
                <a:latin typeface="Arial Black"/>
                <a:cs typeface="Times New Roman"/>
              </a:rPr>
              <a:t>Профиль пользователя</a:t>
            </a:r>
            <a:br>
              <a:rPr lang="en-US" sz="5400" dirty="0">
                <a:latin typeface="Arial Black"/>
                <a:cs typeface="Times New Roman" panose="02020603050405020304" pitchFamily="18" charset="0"/>
              </a:rPr>
            </a:br>
            <a:endParaRPr lang="ru-RU" sz="5400">
              <a:latin typeface="Arial Black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>
            <a:extLst>
              <a:ext uri="{FF2B5EF4-FFF2-40B4-BE49-F238E27FC236}">
                <a16:creationId xmlns:a16="http://schemas.microsoft.com/office/drawing/2014/main" id="{1CEF6E9C-9AAE-B1DF-B670-E1611862D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7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3EB65BA-C51B-E26A-6771-45697BABD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153" y="1682732"/>
            <a:ext cx="11488058" cy="38305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3600" dirty="0">
                <a:latin typeface="Century Gothic"/>
                <a:cs typeface="Times New Roman" panose="02020603050405020304" pitchFamily="18" charset="0"/>
              </a:rPr>
              <a:t>показывает место в рейтинге всех зарегистрированных пользователей сайта и очки рейтинга</a:t>
            </a:r>
          </a:p>
          <a:p>
            <a:endParaRPr lang="ru-RU" sz="3600" dirty="0">
              <a:latin typeface="Century Gothic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3A1D768-DA0D-A475-ECC1-70CC885A1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548" y="2771245"/>
            <a:ext cx="4211268" cy="391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2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38DB3-64C1-B213-D2F1-3CE8DC8E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>
            <a:extLst>
              <a:ext uri="{FF2B5EF4-FFF2-40B4-BE49-F238E27FC236}">
                <a16:creationId xmlns:a16="http://schemas.microsoft.com/office/drawing/2014/main" id="{A080B585-194D-7FF8-A579-A26D25A09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E81F6-61AB-27E1-80D7-432BF0881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09" y="1140316"/>
            <a:ext cx="12135154" cy="974818"/>
          </a:xfrm>
        </p:spPr>
        <p:txBody>
          <a:bodyPr>
            <a:noAutofit/>
          </a:bodyPr>
          <a:lstStyle/>
          <a:p>
            <a:r>
              <a:rPr lang="ru-RU" sz="8000">
                <a:solidFill>
                  <a:schemeClr val="accent5"/>
                </a:solidFill>
                <a:latin typeface="Arial Black"/>
              </a:rPr>
              <a:t>Chinese Learning</a:t>
            </a:r>
            <a:endParaRPr lang="ru-RU" sz="8000">
              <a:solidFill>
                <a:schemeClr val="accent5"/>
              </a:solidFill>
              <a:ea typeface="Calibri Light"/>
              <a:cs typeface="Calibri Ligh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A63077-0D6B-0B1C-3BEF-CD05E50A5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971" y="1913635"/>
            <a:ext cx="11488058" cy="8768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5400" dirty="0">
                <a:latin typeface="Century Gothic"/>
                <a:cs typeface="Times New Roman" panose="02020603050405020304" pitchFamily="18" charset="0"/>
              </a:rPr>
              <a:t>Итоги разработки</a:t>
            </a:r>
          </a:p>
        </p:txBody>
      </p:sp>
      <p:sp>
        <p:nvSpPr>
          <p:cNvPr id="8" name="Номер слайда 6">
            <a:extLst>
              <a:ext uri="{FF2B5EF4-FFF2-40B4-BE49-F238E27FC236}">
                <a16:creationId xmlns:a16="http://schemas.microsoft.com/office/drawing/2014/main" id="{3CFC691F-5E68-A3DA-0153-87C7EB92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109" y="6504423"/>
            <a:ext cx="2743200" cy="365125"/>
          </a:xfrm>
        </p:spPr>
        <p:txBody>
          <a:bodyPr/>
          <a:lstStyle/>
          <a:p>
            <a:r>
              <a:rPr lang="ru-RU" dirty="0"/>
              <a:t>3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2F42D47-ED45-2DCC-2BDD-82FDC544DE69}"/>
              </a:ext>
            </a:extLst>
          </p:cNvPr>
          <p:cNvSpPr txBox="1">
            <a:spLocks/>
          </p:cNvSpPr>
          <p:nvPr/>
        </p:nvSpPr>
        <p:spPr>
          <a:xfrm>
            <a:off x="351971" y="3163250"/>
            <a:ext cx="11488058" cy="38305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dirty="0">
                <a:latin typeface="Century Gothic"/>
                <a:cs typeface="Times New Roman"/>
              </a:rPr>
              <a:t>Создано работающее веб-приложение на </a:t>
            </a:r>
            <a:r>
              <a:rPr lang="ru-RU" sz="2800">
                <a:latin typeface="Century Gothic"/>
                <a:cs typeface="Times New Roman"/>
              </a:rPr>
              <a:t>Flask</a:t>
            </a:r>
            <a:r>
              <a:rPr lang="ru-RU" sz="2800" dirty="0">
                <a:latin typeface="Century Gothic"/>
                <a:cs typeface="Times New Roman"/>
              </a:rPr>
              <a:t> с авторизацией.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dirty="0">
                <a:latin typeface="Century Gothic"/>
                <a:cs typeface="Times New Roman"/>
              </a:rPr>
              <a:t>Реализованы: лексика, практика, история Китая и карточки.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dirty="0">
                <a:latin typeface="Century Gothic"/>
                <a:cs typeface="Times New Roman"/>
              </a:rPr>
              <a:t>Имеется база данных с китайскими выражениями с словами.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800" dirty="0">
                <a:latin typeface="Century Gothic"/>
                <a:cs typeface="Times New Roman"/>
              </a:rPr>
              <a:t>Есть отслеживание персонального прогресса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19437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: 13 тыс изображений найдено в Яндекс.Картинках |  Розетки, Шаблоны power point, Шаблоны сертификато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67446" cy="68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444877" y="1430056"/>
            <a:ext cx="13089465" cy="367256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z="7200" dirty="0">
                <a:solidFill>
                  <a:schemeClr val="accent5"/>
                </a:solidFill>
                <a:latin typeface="Arial Black"/>
                <a:cs typeface="Times New Roman"/>
              </a:rPr>
              <a:t>Спасибо за внимание !</a:t>
            </a:r>
            <a:br>
              <a:rPr lang="ru-RU" sz="7200" dirty="0">
                <a:latin typeface="Arial Black"/>
                <a:cs typeface="Times New Roman" panose="02020603050405020304" pitchFamily="18" charset="0"/>
              </a:rPr>
            </a:br>
            <a:endParaRPr lang="ru-RU" sz="7200" dirty="0">
              <a:solidFill>
                <a:schemeClr val="accent5"/>
              </a:solidFill>
              <a:latin typeface="Arial Black"/>
              <a:cs typeface="Times New Roman" panose="02020603050405020304" pitchFamily="18" charset="0"/>
            </a:endParaRPr>
          </a:p>
        </p:txBody>
      </p:sp>
      <p:sp>
        <p:nvSpPr>
          <p:cNvPr id="4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334123" y="6492875"/>
            <a:ext cx="2743200" cy="365125"/>
          </a:xfrm>
        </p:spPr>
        <p:txBody>
          <a:bodyPr/>
          <a:lstStyle/>
          <a:p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4163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272</Words>
  <Application>Microsoft Office PowerPoint</Application>
  <PresentationFormat>Широкоэкранный</PresentationFormat>
  <Paragraphs>57</Paragraphs>
  <Slides>12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Chinese Learning</vt:lpstr>
      <vt:lpstr>Презентация PowerPoint</vt:lpstr>
      <vt:lpstr>Презентация PowerPoint</vt:lpstr>
      <vt:lpstr>Разделы  веб-приложения</vt:lpstr>
      <vt:lpstr>Раздел «Уроки» </vt:lpstr>
      <vt:lpstr>Раздел «Слова» </vt:lpstr>
      <vt:lpstr>Раздел «Карточки» </vt:lpstr>
      <vt:lpstr>Раздел «История» </vt:lpstr>
      <vt:lpstr>Раздел «Практика» </vt:lpstr>
      <vt:lpstr>Профиль пользователя </vt:lpstr>
      <vt:lpstr>Chinese Learning</vt:lpstr>
      <vt:lpstr>Спасибо за внимание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Сергей Савельев</dc:creator>
  <cp:lastModifiedBy>Максим Савельев</cp:lastModifiedBy>
  <cp:revision>70</cp:revision>
  <dcterms:created xsi:type="dcterms:W3CDTF">2020-10-09T12:04:51Z</dcterms:created>
  <dcterms:modified xsi:type="dcterms:W3CDTF">2026-05-14T09:18:15Z</dcterms:modified>
</cp:coreProperties>
</file>